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874519" cy="34747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Recipe Clipper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Aptos Display"/>
              </a:rPr>
              <a:t>Recipe Clipper performance improved in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353312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7085"/>
                </a:solidFill>
                <a:latin typeface="Aptos"/>
              </a:rPr>
              <a:t>A three-phase view shows improvement through the transition window and into the cleaner post-mid-Feb period.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28800"/>
            <a:ext cx="3657600" cy="1783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828800"/>
            <a:ext cx="3657600" cy="73152"/>
          </a:xfrm>
          <a:prstGeom prst="rect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993392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44054"/>
                </a:solidFill>
                <a:latin typeface="Aptos"/>
              </a:rPr>
              <a:t>Average daily save attempt success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77440"/>
            <a:ext cx="332841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B1F3A"/>
                </a:solidFill>
                <a:latin typeface="Aptos Display"/>
              </a:rPr>
              <a:t>40.5% -&gt; 47.2% -&gt; 52.1%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3054096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67085"/>
                </a:solidFill>
                <a:latin typeface="Aptos"/>
              </a:rPr>
              <a:t>Baseline (12/18-1/30) -&gt; transition (1/31-2/18) -&gt; post-mid-Feb (2/19-3/18)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828800"/>
            <a:ext cx="3657600" cy="1783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8536" y="1828800"/>
            <a:ext cx="3657600" cy="73152"/>
          </a:xfrm>
          <a:prstGeom prst="rect">
            <a:avLst/>
          </a:prstGeom>
          <a:solidFill>
            <a:srgbClr val="0096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993392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44054"/>
                </a:solidFill>
                <a:latin typeface="Aptos"/>
              </a:rPr>
              <a:t>Average save-click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2377440"/>
            <a:ext cx="332841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B1F3A"/>
                </a:solidFill>
                <a:latin typeface="Aptos Display"/>
              </a:rPr>
              <a:t>5.1s -&gt; 4.7s -&gt; 3.8s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054096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67085"/>
                </a:solidFill>
                <a:latin typeface="Aptos"/>
              </a:rPr>
              <a:t>Baseline (12/18-1/30) -&gt; transition (1/31-2/18) -&gt; post-mid-Feb (2/19-3/18)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28800"/>
            <a:ext cx="3657600" cy="1783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828800"/>
            <a:ext cx="3657600" cy="73152"/>
          </a:xfrm>
          <a:prstGeom prst="rect">
            <a:avLst/>
          </a:prstGeom>
          <a:solidFill>
            <a:srgbClr val="4F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1993392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44054"/>
                </a:solidFill>
                <a:latin typeface="Aptos"/>
              </a:rPr>
              <a:t>External-brand share of successful saves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2377440"/>
            <a:ext cx="332841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B1F3A"/>
                </a:solidFill>
                <a:latin typeface="Aptos Display"/>
              </a:rPr>
              <a:t>79.0% -&gt; 79.1% -&gt; 85.3%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3054096"/>
            <a:ext cx="33284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67085"/>
                </a:solidFill>
                <a:latin typeface="Aptos"/>
              </a:rPr>
              <a:t>Share of successful saves that are external-brand URLs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" y="3886200"/>
            <a:ext cx="65379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014216"/>
            <a:ext cx="6208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CB67D"/>
                </a:solidFill>
                <a:latin typeface="Aptos"/>
              </a:rPr>
              <a:t>What to say on the slide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343400"/>
            <a:ext cx="6245352" cy="1673352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44054"/>
                </a:solidFill>
                <a:latin typeface="Aptos"/>
              </a:defRPr>
            </a:pPr>
            <a:r>
              <a:t>126 supported sites were added on Feb 9 during the transition period</a:t>
            </a:r>
          </a:p>
          <a:p>
            <a:pPr>
              <a:spcAft>
                <a:spcPts val="800"/>
              </a:spcAft>
              <a:defRPr sz="1400">
                <a:solidFill>
                  <a:srgbClr val="344054"/>
                </a:solidFill>
                <a:latin typeface="Aptos"/>
              </a:defRPr>
            </a:pPr>
            <a:r>
              <a:t>Performance improves in stages, with gains visible in the transition window and further gains in the trusted post-mid-Feb period</a:t>
            </a:r>
          </a:p>
          <a:p>
            <a:pPr>
              <a:spcAft>
                <a:spcPts val="800"/>
              </a:spcAft>
              <a:defRPr sz="1400">
                <a:solidFill>
                  <a:srgbClr val="344054"/>
                </a:solidFill>
                <a:latin typeface="Aptos"/>
              </a:defRPr>
            </a:pPr>
            <a:r>
              <a:t>Use 2/19 onward for trusted user vs product vs external error attribution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33488" y="3886200"/>
            <a:ext cx="4370832" cy="224028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0" y="4014216"/>
            <a:ext cx="40416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Stakeholder takeaway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9792" y="4343400"/>
            <a:ext cx="4078224" cy="1673352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ptos"/>
              </a:defRPr>
            </a:pPr>
            <a:r>
              <a:t>We can show steady KPI improvement across three phases instead of forcing a single before/after cut.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ptos"/>
              </a:defRPr>
            </a:pPr>
            <a:r>
              <a:t>Collections and repeat sessions are still important, but they are not measurable from this export.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7085"/>
                </a:solidFill>
                <a:latin typeface="Aptos"/>
              </a:rPr>
              <a:t>Use the three-phase view for KPI progression. Use 2/19 onward as the trusted source for user vs product vs external error attribution.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874519" cy="34747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Recipe Clipper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Aptos Display"/>
              </a:rPr>
              <a:t>Post-mid-Feb error mix shows site coverage is the main remaining scaling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353312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7085"/>
                </a:solidFill>
                <a:latin typeface="Aptos"/>
              </a:rPr>
              <a:t>From 2/19 onward, error attribution is the cleanest read of user vs product vs external friction.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28800"/>
            <a:ext cx="6492240" cy="4206240"/>
          </a:xfrm>
          <a:prstGeom prst="roundRect">
            <a:avLst/>
          </a:prstGeom>
          <a:solidFill>
            <a:srgbClr val="F3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029968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1F3A"/>
                </a:solidFill>
                <a:latin typeface="Aptos"/>
              </a:rPr>
              <a:t>Outcome mix of save attempts, post-mid-Feb (2/19-3/18)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743200"/>
            <a:ext cx="2977515" cy="731520"/>
          </a:xfrm>
          <a:prstGeom prst="rect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98648"/>
            <a:ext cx="292265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Success 52.1%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6195" y="2743200"/>
            <a:ext cx="1400175" cy="731520"/>
          </a:xfrm>
          <a:prstGeom prst="rect">
            <a:avLst/>
          </a:prstGeom>
          <a:solidFill>
            <a:srgbClr val="F4A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73627" y="2898648"/>
            <a:ext cx="13453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User 24.5%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6370" y="2743200"/>
            <a:ext cx="720090" cy="731520"/>
          </a:xfrm>
          <a:prstGeom prst="rect">
            <a:avLst/>
          </a:prstGeom>
          <a:solidFill>
            <a:srgbClr val="4F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73802" y="2898648"/>
            <a:ext cx="6652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External 12.6%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66459" y="2743200"/>
            <a:ext cx="571500" cy="731520"/>
          </a:xfrm>
          <a:prstGeom prst="rect">
            <a:avLst/>
          </a:prstGeom>
          <a:solidFill>
            <a:srgbClr val="D9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93892" y="2898648"/>
            <a:ext cx="5166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Product 10.0%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794760"/>
            <a:ext cx="548640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44054"/>
                </a:solidFill>
                <a:latin typeface="Aptos"/>
              </a:defRPr>
            </a:pPr>
            <a:r>
              <a:t>Product-side issues are about 10.0% of save attempts in the trusted post-mid-Feb period.</a:t>
            </a:r>
          </a:p>
          <a:p>
            <a:pPr>
              <a:spcAft>
                <a:spcPts val="1000"/>
              </a:spcAft>
              <a:defRPr sz="1500">
                <a:solidFill>
                  <a:srgbClr val="344054"/>
                </a:solidFill>
                <a:latin typeface="Aptos"/>
              </a:defRPr>
            </a:pPr>
            <a:r>
              <a:t>If someone asks about the 21.1% figure, clarify that it is the share of classified failures, not the share of all attempts.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874519"/>
            <a:ext cx="4343400" cy="10515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4F7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5512" y="2029967"/>
            <a:ext cx="39776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B1F3A"/>
                </a:solidFill>
                <a:latin typeface="Aptos Display"/>
              </a:rPr>
              <a:t>92.1% of external errors are unsupported-site related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3063240"/>
            <a:ext cx="4343400" cy="10515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9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218688"/>
            <a:ext cx="39776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B1F3A"/>
                </a:solidFill>
                <a:latin typeface="Aptos Display"/>
              </a:rPr>
              <a:t>84.2% of product errors come from general_fail + bookmark_fail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4315968"/>
            <a:ext cx="4343400" cy="169164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5512" y="4443984"/>
            <a:ext cx="40142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ptos"/>
              </a:rPr>
              <a:t>What we should do next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7224" y="4773168"/>
            <a:ext cx="4050792" cy="1124712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ptos"/>
              </a:defRPr>
            </a:pPr>
            <a:r>
              <a:t>Add the next 300+ supported sites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ptos"/>
              </a:defRPr>
            </a:pPr>
            <a:r>
              <a:t>Keep reducing user-input friction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ptos"/>
              </a:defRPr>
            </a:pPr>
            <a:r>
              <a:t>Target general_fail and bookmark_fail in product cleanup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7085"/>
                </a:solidFill>
                <a:latin typeface="Aptos"/>
              </a:rPr>
              <a:t>Stakeholder headline: the core product is improving, and the biggest remaining scaling constraint is site coverage rather than core product reliability.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