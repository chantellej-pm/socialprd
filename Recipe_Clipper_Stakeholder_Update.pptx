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20040"/>
            <a:ext cx="1828800" cy="347472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Aptos"/>
              </a:rPr>
              <a:t>Recipe Clipper update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86384"/>
            <a:ext cx="11064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1F3A"/>
                </a:solidFill>
                <a:latin typeface="Aptos Display"/>
              </a:rPr>
              <a:t>Recipe Clipper is improving on key leading KPIs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32588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667085"/>
                </a:solidFill>
                <a:latin typeface="Aptos"/>
              </a:rPr>
              <a:t>The Feb 9 support-list expansion and the cleaner mid-Feb reporting period both point to a healthier core save flow.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30352" y="1828800"/>
            <a:ext cx="3657600" cy="1783080"/>
          </a:xfrm>
          <a:prstGeom prst="roundRect">
            <a:avLst/>
          </a:prstGeom>
          <a:solidFill>
            <a:srgbClr val="F3F6F9"/>
          </a:solidFill>
          <a:ln w="12700">
            <a:solidFill>
              <a:srgbClr val="DC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30352" y="1828800"/>
            <a:ext cx="3657600" cy="73152"/>
          </a:xfrm>
          <a:prstGeom prst="rect">
            <a:avLst/>
          </a:prstGeom>
          <a:solidFill>
            <a:srgbClr val="2CB6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4944" y="1993392"/>
            <a:ext cx="332841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Average daily save attempt success rate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2395728"/>
            <a:ext cx="3328416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0B1F3A"/>
                </a:solidFill>
                <a:latin typeface="Aptos Display"/>
              </a:rPr>
              <a:t>44% -&gt; 50% -&gt; 52%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" y="3090672"/>
            <a:ext cx="332841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667085"/>
                </a:solidFill>
                <a:latin typeface="Aptos"/>
              </a:rPr>
              <a:t>Feb 1-8 -&gt; Feb 9-18 -&gt; post-mid-Feb baseline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88536" y="1828800"/>
            <a:ext cx="3657600" cy="1783080"/>
          </a:xfrm>
          <a:prstGeom prst="roundRect">
            <a:avLst/>
          </a:prstGeom>
          <a:solidFill>
            <a:srgbClr val="F3F6F9"/>
          </a:solidFill>
          <a:ln w="12700">
            <a:solidFill>
              <a:srgbClr val="DC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88536" y="1828800"/>
            <a:ext cx="3657600" cy="73152"/>
          </a:xfrm>
          <a:prstGeom prst="rect">
            <a:avLst/>
          </a:prstGeom>
          <a:solidFill>
            <a:srgbClr val="0096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53128" y="1993392"/>
            <a:ext cx="332841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44054"/>
                </a:solidFill>
                <a:latin typeface="Aptos"/>
              </a:rPr>
              <a:t>Average save-click time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53128" y="2395728"/>
            <a:ext cx="3328416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0B1F3A"/>
                </a:solidFill>
                <a:latin typeface="Aptos Display"/>
              </a:rPr>
              <a:t>5.2s -&gt; 4.3s -&gt; 3.8s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53128" y="3090672"/>
            <a:ext cx="332841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667085"/>
                </a:solidFill>
                <a:latin typeface="Aptos"/>
              </a:rPr>
              <a:t>Faster saves after 126 sites were added on Feb 9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1828800"/>
            <a:ext cx="3657600" cy="1783080"/>
          </a:xfrm>
          <a:prstGeom prst="roundRect">
            <a:avLst/>
          </a:prstGeom>
          <a:solidFill>
            <a:srgbClr val="F3F6F9"/>
          </a:solidFill>
          <a:ln w="12700">
            <a:solidFill>
              <a:srgbClr val="DC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0" y="1828800"/>
            <a:ext cx="3657600" cy="73152"/>
          </a:xfrm>
          <a:prstGeom prst="rect">
            <a:avLst/>
          </a:prstGeom>
          <a:solidFill>
            <a:srgbClr val="4F7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11312" y="1993392"/>
            <a:ext cx="332841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44054"/>
                </a:solidFill>
                <a:latin typeface="Aptos"/>
              </a:rPr>
              <a:t>External-brand adoption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11312" y="2395728"/>
            <a:ext cx="3328416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0B1F3A"/>
                </a:solidFill>
                <a:latin typeface="Aptos Display"/>
              </a:rPr>
              <a:t>85% of successful saves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11312" y="3090672"/>
            <a:ext cx="332841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667085"/>
                </a:solidFill>
                <a:latin typeface="Aptos"/>
              </a:rPr>
              <a:t>Post-mid-Feb successful saves are overwhelmingly external-brand URLs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30352" y="3886200"/>
            <a:ext cx="653796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4944" y="4014216"/>
            <a:ext cx="620877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2CB67D"/>
                </a:solidFill>
                <a:latin typeface="Aptos"/>
              </a:rPr>
              <a:t>What improved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6656" y="4361688"/>
            <a:ext cx="6245352" cy="1636776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344054"/>
                </a:solidFill>
                <a:latin typeface="Aptos"/>
              </a:defRPr>
            </a:pPr>
            <a:r>
              <a:t>126 supported sites were added on Feb 9</a:t>
            </a:r>
          </a:p>
          <a:p>
            <a:r>
              <a:t>User error rate improved from 35% to 25% of submissions in the immediate pre/post Feb 9 window</a:t>
            </a:r>
          </a:p>
          <a:p>
            <a:r>
              <a:t>Average daily save attempt success rate improved from 44% to 50% after the site expansion and reached 52% in the trusted post-mid-Feb period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33488" y="3886200"/>
            <a:ext cx="4370832" cy="2240280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/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Stakeholder takeaway</a:t>
            </a:r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  <a:latin typeface="Aptos"/>
              </a:defRPr>
            </a:pPr>
            <a:r>
              <a:t>We are making progress on the leading KPIs we can validate in this export: reliability, speed, and external recipe adoption.</a:t>
            </a:r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  <a:latin typeface="Aptos"/>
              </a:defRPr>
            </a:pPr>
            <a:r>
              <a:t>Collections and repeat sessions are still important, but they are not measurable from this export.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0352" y="6419088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667085"/>
                </a:solidFill>
                <a:latin typeface="Aptos"/>
              </a:rPr>
              <a:t>Trusted error attribution starts 2/19 after the save URL error-category update. KPI progress before then is best used directionally.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20040"/>
            <a:ext cx="1828800" cy="347472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Aptos"/>
              </a:rPr>
              <a:t>Recipe Clipper update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86384"/>
            <a:ext cx="11064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1F3A"/>
                </a:solidFill>
                <a:latin typeface="Aptos Display"/>
              </a:rPr>
              <a:t>Remaining friction is mostly user and site coverage, not core product reliability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32588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667085"/>
                </a:solidFill>
                <a:latin typeface="Aptos"/>
              </a:rPr>
              <a:t>Use share of save attempts, not share of failures, to keep the denominator stakeholder-safe.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30352" y="1828800"/>
            <a:ext cx="6492240" cy="4206240"/>
          </a:xfrm>
          <a:prstGeom prst="roundRect">
            <a:avLst/>
          </a:prstGeom>
          <a:solidFill>
            <a:srgbClr val="F3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2029968"/>
            <a:ext cx="5852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B1F3A"/>
                </a:solidFill>
                <a:latin typeface="Aptos"/>
              </a:rPr>
              <a:t>Outcome mix of save attempts, post-mid-Feb (2/19-3/18)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2743200"/>
            <a:ext cx="2948025" cy="731520"/>
          </a:xfrm>
          <a:prstGeom prst="rect">
            <a:avLst/>
          </a:prstGeom>
          <a:solidFill>
            <a:srgbClr val="2CB6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898648"/>
            <a:ext cx="289316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ptos"/>
              </a:rPr>
              <a:t>Success 52%</a:t>
            </a:r>
          </a:p>
        </p:txBody>
      </p:sp>
      <p:sp>
        <p:nvSpPr>
          <p:cNvPr id="9" name="Rectangle 8"/>
          <p:cNvSpPr/>
          <p:nvPr/>
        </p:nvSpPr>
        <p:spPr>
          <a:xfrm>
            <a:off x="3816705" y="2743200"/>
            <a:ext cx="1417320" cy="731520"/>
          </a:xfrm>
          <a:prstGeom prst="rect">
            <a:avLst/>
          </a:prstGeom>
          <a:solidFill>
            <a:srgbClr val="F4A2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4137" y="2898648"/>
            <a:ext cx="136245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ptos"/>
              </a:rPr>
              <a:t>User 25%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234025" y="2743200"/>
            <a:ext cx="737006" cy="731520"/>
          </a:xfrm>
          <a:prstGeom prst="rect">
            <a:avLst/>
          </a:prstGeom>
          <a:solidFill>
            <a:srgbClr val="4F7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261457" y="2898648"/>
            <a:ext cx="68214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ptos"/>
              </a:rPr>
              <a:t>External 13%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71032" y="2743200"/>
            <a:ext cx="566928" cy="731520"/>
          </a:xfrm>
          <a:prstGeom prst="rect">
            <a:avLst/>
          </a:prstGeom>
          <a:solidFill>
            <a:srgbClr val="D95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98464" y="2898648"/>
            <a:ext cx="51206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Product 10%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" y="3794760"/>
            <a:ext cx="5486400" cy="1325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  <a:defRPr sz="1500">
                <a:solidFill>
                  <a:srgbClr val="344054"/>
                </a:solidFill>
                <a:latin typeface="Aptos"/>
              </a:defRPr>
            </a:pPr>
            <a:r>
              <a:t>Product-side issues are about 10% of save attempts in the trusted post-mid-Feb period.</a:t>
            </a:r>
          </a:p>
          <a:p>
            <a:pPr>
              <a:spcAft>
                <a:spcPts val="1000"/>
              </a:spcAft>
              <a:defRPr sz="1500">
                <a:solidFill>
                  <a:srgbClr val="344054"/>
                </a:solidFill>
                <a:latin typeface="Aptos"/>
              </a:defRPr>
            </a:pPr>
            <a:r>
              <a:t>If someone asks about the 21% figure, clarify that it is the share of classified failures, not the share of all attempts.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60920" y="1874519"/>
            <a:ext cx="4343400" cy="1051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4F7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>
            <a:normAutofit/>
          </a:bodyPr>
          <a:lstStyle/>
          <a:p>
            <a:pPr algn="l"/>
            <a:r>
              <a:rPr sz="2200" b="1">
                <a:solidFill>
                  <a:srgbClr val="0B1F3A"/>
                </a:solidFill>
                <a:latin typeface="Aptos"/>
              </a:rPr>
              <a:t>92% of external errors are unsupported-site related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60920" y="3063240"/>
            <a:ext cx="4343400" cy="1051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95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>
            <a:normAutofit/>
          </a:bodyPr>
          <a:lstStyle/>
          <a:p>
            <a:pPr algn="l"/>
            <a:r>
              <a:rPr sz="2200" b="1">
                <a:solidFill>
                  <a:srgbClr val="0B1F3A"/>
                </a:solidFill>
                <a:latin typeface="Aptos"/>
              </a:rPr>
              <a:t>84% of product errors come from general_fail + bookmark_fail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60920" y="4315968"/>
            <a:ext cx="4343400" cy="1691640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/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What we should do next</a:t>
            </a:r>
          </a:p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Aptos"/>
              </a:defRPr>
            </a:pPr>
            <a:r>
              <a:t>Add the next 300+ supported sites</a:t>
            </a:r>
          </a:p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Aptos"/>
              </a:defRPr>
            </a:pPr>
            <a:r>
              <a:t>Keep reducing user-input friction</a:t>
            </a:r>
          </a:p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Aptos"/>
              </a:defRPr>
            </a:pPr>
            <a:r>
              <a:t>Target general_fail and bookmark_fail in product cleanup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" y="6419088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667085"/>
                </a:solidFill>
                <a:latin typeface="Aptos"/>
              </a:rPr>
              <a:t>Stakeholder headline: the core product is improving, and the biggest remaining scaling constraint is site coverage rather than core product reliability.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